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58" r:id="rId4"/>
    <p:sldId id="263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309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05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0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723"/>
            <a:ext cx="914400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791515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5C1010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AF6F1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 err="1" smtClean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Muzz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Data Analyst Exercise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smtClean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  </a:t>
            </a:r>
            <a:r>
              <a:rPr lang="en-US" sz="10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Prepared for: Interview  · </a:t>
            </a:r>
            <a:r>
              <a:rPr lang="en-US" sz="1000" dirty="0" smtClean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000" dirty="0" err="1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000" dirty="0" err="1" smtClean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62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kern="0" spc="3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User Verification Experiment Overview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3443" y="755407"/>
            <a:ext cx="3712287" cy="2379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05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Process</a:t>
            </a:r>
            <a:r>
              <a:rPr lang="en-GB" sz="1050" b="1" dirty="0" smtClean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</a:t>
            </a:r>
            <a:r>
              <a:rPr lang="en-GB" sz="1050" dirty="0" smtClean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</a:t>
            </a:r>
            <a:r>
              <a:rPr lang="en-GB" sz="1050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currently verify their accounts via SMS only after installing the </a:t>
            </a:r>
            <a:r>
              <a:rPr lang="en-GB" sz="1050" dirty="0" smtClean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app.</a:t>
            </a:r>
          </a:p>
          <a:p>
            <a:endParaRPr lang="en-GB" sz="1050" dirty="0" smtClean="0">
              <a:solidFill>
                <a:srgbClr val="C00000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r>
              <a:rPr lang="en-GB" sz="1050" b="1" dirty="0" smtClean="0">
                <a:solidFill>
                  <a:srgbClr val="C00000"/>
                </a:solidFill>
              </a:rPr>
              <a:t>Goal:</a:t>
            </a:r>
            <a:r>
              <a:rPr lang="en-GB" sz="1050" dirty="0" smtClean="0">
                <a:solidFill>
                  <a:srgbClr val="C00000"/>
                </a:solidFill>
              </a:rPr>
              <a:t> Increase </a:t>
            </a:r>
            <a:r>
              <a:rPr lang="en-GB" sz="1050" dirty="0">
                <a:solidFill>
                  <a:srgbClr val="C00000"/>
                </a:solidFill>
              </a:rPr>
              <a:t>user verification completion—i.e., successfully entering the OTP and progressing to profile setup</a:t>
            </a:r>
            <a:r>
              <a:rPr lang="en-GB" sz="1050" dirty="0" smtClean="0">
                <a:solidFill>
                  <a:srgbClr val="C00000"/>
                </a:solidFill>
              </a:rPr>
              <a:t>.</a:t>
            </a:r>
          </a:p>
          <a:p>
            <a:endParaRPr lang="en-GB" sz="1050" dirty="0">
              <a:solidFill>
                <a:srgbClr val="C00000"/>
              </a:solidFill>
            </a:endParaRPr>
          </a:p>
          <a:p>
            <a:r>
              <a:rPr lang="en-GB" sz="1050" b="1" dirty="0">
                <a:solidFill>
                  <a:srgbClr val="C00000"/>
                </a:solidFill>
              </a:rPr>
              <a:t>Test Variants:</a:t>
            </a:r>
            <a:endParaRPr lang="en-GB" sz="1050" dirty="0">
              <a:solidFill>
                <a:srgbClr val="C00000"/>
              </a:solidFill>
            </a:endParaRPr>
          </a:p>
          <a:p>
            <a:r>
              <a:rPr lang="en-GB" sz="1050" b="1" dirty="0">
                <a:solidFill>
                  <a:srgbClr val="C00000"/>
                </a:solidFill>
              </a:rPr>
              <a:t>A (Control):</a:t>
            </a:r>
            <a:r>
              <a:rPr lang="en-GB" sz="1050" dirty="0">
                <a:solidFill>
                  <a:srgbClr val="C00000"/>
                </a:solidFill>
              </a:rPr>
              <a:t> Verify using SMS only (</a:t>
            </a:r>
            <a:r>
              <a:rPr lang="en-GB" sz="1050" b="1" dirty="0">
                <a:solidFill>
                  <a:srgbClr val="C00000"/>
                </a:solidFill>
              </a:rPr>
              <a:t>6,382 users</a:t>
            </a:r>
            <a:r>
              <a:rPr lang="en-GB" sz="1050" dirty="0">
                <a:solidFill>
                  <a:srgbClr val="C00000"/>
                </a:solidFill>
              </a:rPr>
              <a:t>) </a:t>
            </a:r>
          </a:p>
          <a:p>
            <a:r>
              <a:rPr lang="en-GB" sz="1050" b="1" dirty="0">
                <a:solidFill>
                  <a:srgbClr val="C00000"/>
                </a:solidFill>
              </a:rPr>
              <a:t>B:</a:t>
            </a:r>
            <a:r>
              <a:rPr lang="en-GB" sz="1050" dirty="0">
                <a:solidFill>
                  <a:srgbClr val="C00000"/>
                </a:solidFill>
              </a:rPr>
              <a:t> Verify using SMS (primary) or </a:t>
            </a:r>
            <a:r>
              <a:rPr lang="en-GB" sz="1050" dirty="0" err="1">
                <a:solidFill>
                  <a:srgbClr val="C00000"/>
                </a:solidFill>
              </a:rPr>
              <a:t>WhatsApp</a:t>
            </a:r>
            <a:r>
              <a:rPr lang="en-GB" sz="1050" dirty="0">
                <a:solidFill>
                  <a:srgbClr val="C00000"/>
                </a:solidFill>
              </a:rPr>
              <a:t> (secondary) (</a:t>
            </a:r>
            <a:r>
              <a:rPr lang="en-GB" sz="1050" b="1" dirty="0">
                <a:solidFill>
                  <a:srgbClr val="C00000"/>
                </a:solidFill>
              </a:rPr>
              <a:t>5,924 users</a:t>
            </a:r>
            <a:r>
              <a:rPr lang="en-GB" sz="1050" dirty="0">
                <a:solidFill>
                  <a:srgbClr val="C00000"/>
                </a:solidFill>
              </a:rPr>
              <a:t>) </a:t>
            </a:r>
          </a:p>
          <a:p>
            <a:r>
              <a:rPr lang="en-GB" sz="1050" b="1" dirty="0">
                <a:solidFill>
                  <a:srgbClr val="C00000"/>
                </a:solidFill>
              </a:rPr>
              <a:t>C:</a:t>
            </a:r>
            <a:r>
              <a:rPr lang="en-GB" sz="1050" dirty="0">
                <a:solidFill>
                  <a:srgbClr val="C00000"/>
                </a:solidFill>
              </a:rPr>
              <a:t> Verify using </a:t>
            </a:r>
            <a:r>
              <a:rPr lang="en-GB" sz="1050" dirty="0" err="1">
                <a:solidFill>
                  <a:srgbClr val="C00000"/>
                </a:solidFill>
              </a:rPr>
              <a:t>WhatsApp</a:t>
            </a:r>
            <a:r>
              <a:rPr lang="en-GB" sz="1050" dirty="0">
                <a:solidFill>
                  <a:srgbClr val="C00000"/>
                </a:solidFill>
              </a:rPr>
              <a:t> (primary) or SMS (secondary) (</a:t>
            </a:r>
            <a:r>
              <a:rPr lang="en-GB" sz="1050" b="1" dirty="0">
                <a:solidFill>
                  <a:srgbClr val="C00000"/>
                </a:solidFill>
              </a:rPr>
              <a:t>6,118 users</a:t>
            </a:r>
            <a:r>
              <a:rPr lang="en-GB" sz="1050" dirty="0">
                <a:solidFill>
                  <a:srgbClr val="C00000"/>
                </a:solidFill>
              </a:rPr>
              <a:t>) </a:t>
            </a:r>
            <a:endParaRPr lang="en-GB" sz="1050" dirty="0" smtClean="0">
              <a:solidFill>
                <a:srgbClr val="C00000"/>
              </a:solidFill>
            </a:endParaRPr>
          </a:p>
          <a:p>
            <a:endParaRPr lang="en-GB" sz="1050" dirty="0">
              <a:solidFill>
                <a:srgbClr val="C00000"/>
              </a:solidFill>
            </a:endParaRPr>
          </a:p>
          <a:p>
            <a:r>
              <a:rPr lang="en-GB" sz="1050" b="1" dirty="0">
                <a:solidFill>
                  <a:srgbClr val="C00000"/>
                </a:solidFill>
              </a:rPr>
              <a:t>Key </a:t>
            </a:r>
            <a:r>
              <a:rPr lang="en-GB" sz="1050" b="1" dirty="0" smtClean="0">
                <a:solidFill>
                  <a:srgbClr val="C00000"/>
                </a:solidFill>
              </a:rPr>
              <a:t>Detail:</a:t>
            </a:r>
            <a:r>
              <a:rPr lang="en-GB" sz="1050" dirty="0" smtClean="0">
                <a:solidFill>
                  <a:srgbClr val="C00000"/>
                </a:solidFill>
              </a:rPr>
              <a:t> The </a:t>
            </a:r>
            <a:r>
              <a:rPr lang="en-GB" sz="1050" dirty="0">
                <a:solidFill>
                  <a:srgbClr val="C00000"/>
                </a:solidFill>
              </a:rPr>
              <a:t>dataset records only the </a:t>
            </a:r>
            <a:r>
              <a:rPr lang="en-GB" sz="1050" b="1" dirty="0">
                <a:solidFill>
                  <a:srgbClr val="C00000"/>
                </a:solidFill>
              </a:rPr>
              <a:t>first verification method</a:t>
            </a:r>
            <a:r>
              <a:rPr lang="en-GB" sz="1050" dirty="0">
                <a:solidFill>
                  <a:srgbClr val="C00000"/>
                </a:solidFill>
              </a:rPr>
              <a:t> selected by each user; any subsequent changes are </a:t>
            </a:r>
            <a:r>
              <a:rPr lang="en-GB" sz="1050" b="1" dirty="0">
                <a:solidFill>
                  <a:srgbClr val="C00000"/>
                </a:solidFill>
              </a:rPr>
              <a:t>not captured</a:t>
            </a:r>
            <a:r>
              <a:rPr lang="en-GB" sz="1050" dirty="0">
                <a:solidFill>
                  <a:srgbClr val="C00000"/>
                </a:solidFill>
              </a:rPr>
              <a:t>.</a:t>
            </a:r>
          </a:p>
          <a:p>
            <a:r>
              <a:rPr lang="en-GB" sz="1050" b="1" dirty="0">
                <a:solidFill>
                  <a:srgbClr val="C00000"/>
                </a:solidFill>
              </a:rPr>
              <a:t>Random </a:t>
            </a:r>
            <a:r>
              <a:rPr lang="en-GB" sz="1050" b="1" dirty="0" smtClean="0">
                <a:solidFill>
                  <a:srgbClr val="C00000"/>
                </a:solidFill>
              </a:rPr>
              <a:t>Assignment:</a:t>
            </a:r>
            <a:r>
              <a:rPr lang="en-GB" sz="1050" dirty="0" smtClean="0">
                <a:solidFill>
                  <a:srgbClr val="C00000"/>
                </a:solidFill>
              </a:rPr>
              <a:t> Each </a:t>
            </a:r>
            <a:r>
              <a:rPr lang="en-GB" sz="1050" dirty="0">
                <a:solidFill>
                  <a:srgbClr val="C00000"/>
                </a:solidFill>
              </a:rPr>
              <a:t>user is randomly assigned to </a:t>
            </a:r>
            <a:r>
              <a:rPr lang="en-GB" sz="1050" b="1" dirty="0">
                <a:solidFill>
                  <a:srgbClr val="C00000"/>
                </a:solidFill>
              </a:rPr>
              <a:t>one of the three variants</a:t>
            </a:r>
            <a:r>
              <a:rPr lang="en-GB" sz="1050" dirty="0">
                <a:solidFill>
                  <a:srgbClr val="C00000"/>
                </a:solidFill>
              </a:rPr>
              <a:t>.</a:t>
            </a:r>
          </a:p>
          <a:p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317" y="380570"/>
            <a:ext cx="5232910" cy="24264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317" y="2807067"/>
            <a:ext cx="5232829" cy="23452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779" y="3402281"/>
            <a:ext cx="1824525" cy="17590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851" y="3402281"/>
            <a:ext cx="1804879" cy="174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8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2" name="TextBox 31"/>
          <p:cNvSpPr txBox="1"/>
          <p:nvPr/>
        </p:nvSpPr>
        <p:spPr>
          <a:xfrm>
            <a:off x="350322" y="682831"/>
            <a:ext cx="46195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C00000"/>
                </a:solidFill>
              </a:rPr>
              <a:t>Variant A (SMS only):</a:t>
            </a:r>
            <a:endParaRPr lang="en-GB" sz="1200" dirty="0">
              <a:solidFill>
                <a:srgbClr val="C00000"/>
              </a:solidFill>
            </a:endParaRPr>
          </a:p>
          <a:p>
            <a:r>
              <a:rPr lang="en-GB" sz="1200" dirty="0">
                <a:solidFill>
                  <a:srgbClr val="C00000"/>
                </a:solidFill>
              </a:rPr>
              <a:t>Shown to 6,382 users. </a:t>
            </a:r>
          </a:p>
          <a:p>
            <a:r>
              <a:rPr lang="en-GB" sz="1200" dirty="0">
                <a:solidFill>
                  <a:srgbClr val="C00000"/>
                </a:solidFill>
              </a:rPr>
              <a:t>5,573 verified via SMS successfully, 809 refused. </a:t>
            </a:r>
          </a:p>
          <a:p>
            <a:r>
              <a:rPr lang="en-GB" sz="1200" b="1" dirty="0">
                <a:solidFill>
                  <a:srgbClr val="C00000"/>
                </a:solidFill>
              </a:rPr>
              <a:t>Conversion rate:</a:t>
            </a:r>
            <a:r>
              <a:rPr lang="en-GB" sz="1200" dirty="0">
                <a:solidFill>
                  <a:srgbClr val="C00000"/>
                </a:solidFill>
              </a:rPr>
              <a:t> 87.3</a:t>
            </a:r>
            <a:r>
              <a:rPr lang="en-GB" sz="1200" dirty="0" smtClean="0">
                <a:solidFill>
                  <a:srgbClr val="C00000"/>
                </a:solidFill>
              </a:rPr>
              <a:t>%.</a:t>
            </a:r>
          </a:p>
          <a:p>
            <a:r>
              <a:rPr lang="en-GB" sz="1200" b="1" dirty="0" smtClean="0">
                <a:solidFill>
                  <a:srgbClr val="C00000"/>
                </a:solidFill>
              </a:rPr>
              <a:t>Average Cost </a:t>
            </a:r>
            <a:r>
              <a:rPr lang="en-GB" sz="1200" dirty="0" smtClean="0">
                <a:solidFill>
                  <a:srgbClr val="C00000"/>
                </a:solidFill>
              </a:rPr>
              <a:t>:$</a:t>
            </a:r>
            <a:r>
              <a:rPr lang="en-GB" sz="1200" dirty="0">
                <a:solidFill>
                  <a:srgbClr val="C00000"/>
                </a:solidFill>
              </a:rPr>
              <a:t>0.101042	</a:t>
            </a:r>
            <a:endParaRPr lang="en-GB" sz="1200" dirty="0" smtClean="0">
              <a:solidFill>
                <a:srgbClr val="C00000"/>
              </a:solidFill>
            </a:endParaRPr>
          </a:p>
          <a:p>
            <a:endParaRPr lang="en-GB" sz="1200" dirty="0">
              <a:solidFill>
                <a:srgbClr val="C00000"/>
              </a:solidFill>
            </a:endParaRPr>
          </a:p>
          <a:p>
            <a:r>
              <a:rPr lang="en-GB" sz="1200" b="1" dirty="0">
                <a:solidFill>
                  <a:srgbClr val="C00000"/>
                </a:solidFill>
              </a:rPr>
              <a:t>Variant B:</a:t>
            </a:r>
            <a:endParaRPr lang="en-GB" sz="1200" dirty="0">
              <a:solidFill>
                <a:srgbClr val="C00000"/>
              </a:solidFill>
            </a:endParaRPr>
          </a:p>
          <a:p>
            <a:r>
              <a:rPr lang="en-GB" sz="1200" dirty="0">
                <a:solidFill>
                  <a:srgbClr val="C00000"/>
                </a:solidFill>
              </a:rPr>
              <a:t>Shown to 5,924 users: 5,257 chose SMS, 667 chose </a:t>
            </a:r>
            <a:r>
              <a:rPr lang="en-GB" sz="1200" dirty="0" err="1">
                <a:solidFill>
                  <a:srgbClr val="C00000"/>
                </a:solidFill>
              </a:rPr>
              <a:t>WhatsApp</a:t>
            </a:r>
            <a:r>
              <a:rPr lang="en-GB" sz="1200" dirty="0">
                <a:solidFill>
                  <a:srgbClr val="C00000"/>
                </a:solidFill>
              </a:rPr>
              <a:t>. </a:t>
            </a:r>
          </a:p>
          <a:p>
            <a:r>
              <a:rPr lang="en-GB" sz="1200" dirty="0">
                <a:solidFill>
                  <a:srgbClr val="C00000"/>
                </a:solidFill>
              </a:rPr>
              <a:t>SMS: 4,888 verified, 369 refused → </a:t>
            </a:r>
            <a:r>
              <a:rPr lang="en-GB" sz="1200" b="1" dirty="0">
                <a:solidFill>
                  <a:srgbClr val="C00000"/>
                </a:solidFill>
              </a:rPr>
              <a:t>92.9%</a:t>
            </a:r>
            <a:r>
              <a:rPr lang="en-GB" sz="1200" dirty="0">
                <a:solidFill>
                  <a:srgbClr val="C00000"/>
                </a:solidFill>
              </a:rPr>
              <a:t> </a:t>
            </a:r>
          </a:p>
          <a:p>
            <a:r>
              <a:rPr lang="en-GB" sz="1200" dirty="0" err="1">
                <a:solidFill>
                  <a:srgbClr val="C00000"/>
                </a:solidFill>
              </a:rPr>
              <a:t>WhatsApp</a:t>
            </a:r>
            <a:r>
              <a:rPr lang="en-GB" sz="1200" dirty="0">
                <a:solidFill>
                  <a:srgbClr val="C00000"/>
                </a:solidFill>
              </a:rPr>
              <a:t>: 610 verified, 57 refused → </a:t>
            </a:r>
            <a:r>
              <a:rPr lang="en-GB" sz="1200" b="1" dirty="0">
                <a:solidFill>
                  <a:srgbClr val="C00000"/>
                </a:solidFill>
              </a:rPr>
              <a:t>91.4%</a:t>
            </a:r>
            <a:r>
              <a:rPr lang="en-GB" sz="1200" dirty="0">
                <a:solidFill>
                  <a:srgbClr val="C00000"/>
                </a:solidFill>
              </a:rPr>
              <a:t> </a:t>
            </a:r>
          </a:p>
          <a:p>
            <a:r>
              <a:rPr lang="en-GB" sz="1200" b="1" dirty="0">
                <a:solidFill>
                  <a:srgbClr val="C00000"/>
                </a:solidFill>
              </a:rPr>
              <a:t>Conversion rate:</a:t>
            </a:r>
            <a:r>
              <a:rPr lang="en-GB" sz="1200" dirty="0">
                <a:solidFill>
                  <a:srgbClr val="C00000"/>
                </a:solidFill>
              </a:rPr>
              <a:t> </a:t>
            </a:r>
            <a:r>
              <a:rPr lang="en-GB" sz="1200" dirty="0" smtClean="0">
                <a:solidFill>
                  <a:srgbClr val="C00000"/>
                </a:solidFill>
              </a:rPr>
              <a:t>92.81 %. </a:t>
            </a:r>
            <a:endParaRPr lang="en-GB" sz="1200" dirty="0">
              <a:solidFill>
                <a:srgbClr val="C00000"/>
              </a:solidFill>
            </a:endParaRPr>
          </a:p>
          <a:p>
            <a:r>
              <a:rPr lang="en-GB" sz="1200" b="1" dirty="0">
                <a:solidFill>
                  <a:srgbClr val="C00000"/>
                </a:solidFill>
              </a:rPr>
              <a:t>Average Cost </a:t>
            </a:r>
            <a:r>
              <a:rPr lang="en-GB" sz="1200" dirty="0">
                <a:solidFill>
                  <a:srgbClr val="C00000"/>
                </a:solidFill>
              </a:rPr>
              <a:t>:$</a:t>
            </a:r>
            <a:r>
              <a:rPr lang="en-GB" sz="1200" dirty="0" smtClean="0">
                <a:solidFill>
                  <a:srgbClr val="C00000"/>
                </a:solidFill>
              </a:rPr>
              <a:t>0.0702</a:t>
            </a:r>
          </a:p>
          <a:p>
            <a:endParaRPr lang="en-GB" sz="1200" dirty="0">
              <a:solidFill>
                <a:srgbClr val="C00000"/>
              </a:solidFill>
            </a:endParaRPr>
          </a:p>
          <a:p>
            <a:r>
              <a:rPr lang="en-GB" sz="1200" b="1" dirty="0">
                <a:solidFill>
                  <a:srgbClr val="C00000"/>
                </a:solidFill>
              </a:rPr>
              <a:t>Variant C:</a:t>
            </a:r>
            <a:endParaRPr lang="en-GB" sz="1200" dirty="0">
              <a:solidFill>
                <a:srgbClr val="C00000"/>
              </a:solidFill>
            </a:endParaRPr>
          </a:p>
          <a:p>
            <a:r>
              <a:rPr lang="en-GB" sz="1200" dirty="0">
                <a:solidFill>
                  <a:srgbClr val="C00000"/>
                </a:solidFill>
              </a:rPr>
              <a:t>Shown to 6,118 users: 2,213 chose SMS, 3,905 chose </a:t>
            </a:r>
            <a:r>
              <a:rPr lang="en-GB" sz="1200" dirty="0" err="1">
                <a:solidFill>
                  <a:srgbClr val="C00000"/>
                </a:solidFill>
              </a:rPr>
              <a:t>WhatsApp</a:t>
            </a:r>
            <a:r>
              <a:rPr lang="en-GB" sz="1200" dirty="0">
                <a:solidFill>
                  <a:srgbClr val="C00000"/>
                </a:solidFill>
              </a:rPr>
              <a:t>. </a:t>
            </a:r>
          </a:p>
          <a:p>
            <a:r>
              <a:rPr lang="en-GB" sz="1200" dirty="0">
                <a:solidFill>
                  <a:srgbClr val="C00000"/>
                </a:solidFill>
              </a:rPr>
              <a:t>SMS: 2,110 verified, 103 refused → </a:t>
            </a:r>
            <a:r>
              <a:rPr lang="en-GB" sz="1200" b="1" dirty="0">
                <a:solidFill>
                  <a:srgbClr val="C00000"/>
                </a:solidFill>
              </a:rPr>
              <a:t>95.4%</a:t>
            </a:r>
            <a:r>
              <a:rPr lang="en-GB" sz="1200" dirty="0">
                <a:solidFill>
                  <a:srgbClr val="C00000"/>
                </a:solidFill>
              </a:rPr>
              <a:t> </a:t>
            </a:r>
          </a:p>
          <a:p>
            <a:r>
              <a:rPr lang="en-GB" sz="1200" dirty="0" err="1">
                <a:solidFill>
                  <a:srgbClr val="C00000"/>
                </a:solidFill>
              </a:rPr>
              <a:t>WhatsApp</a:t>
            </a:r>
            <a:r>
              <a:rPr lang="en-GB" sz="1200" dirty="0">
                <a:solidFill>
                  <a:srgbClr val="C00000"/>
                </a:solidFill>
              </a:rPr>
              <a:t>: 3,569 verified, 336 refused → </a:t>
            </a:r>
            <a:r>
              <a:rPr lang="en-GB" sz="1200" b="1" dirty="0">
                <a:solidFill>
                  <a:srgbClr val="C00000"/>
                </a:solidFill>
              </a:rPr>
              <a:t>91.4</a:t>
            </a:r>
            <a:r>
              <a:rPr lang="en-GB" sz="1200" b="1" dirty="0" smtClean="0">
                <a:solidFill>
                  <a:srgbClr val="C00000"/>
                </a:solidFill>
              </a:rPr>
              <a:t>%</a:t>
            </a:r>
          </a:p>
          <a:p>
            <a:r>
              <a:rPr lang="en-GB" sz="1200" b="1" dirty="0">
                <a:solidFill>
                  <a:srgbClr val="C00000"/>
                </a:solidFill>
              </a:rPr>
              <a:t>Conversion rate:</a:t>
            </a:r>
            <a:r>
              <a:rPr lang="en-GB" sz="1200" dirty="0">
                <a:solidFill>
                  <a:srgbClr val="C00000"/>
                </a:solidFill>
              </a:rPr>
              <a:t> </a:t>
            </a:r>
            <a:r>
              <a:rPr lang="en-GB" sz="1200" dirty="0" smtClean="0">
                <a:solidFill>
                  <a:srgbClr val="C00000"/>
                </a:solidFill>
              </a:rPr>
              <a:t>92.82%. </a:t>
            </a:r>
            <a:endParaRPr lang="en-GB" sz="1200" dirty="0">
              <a:solidFill>
                <a:srgbClr val="C00000"/>
              </a:solidFill>
            </a:endParaRPr>
          </a:p>
          <a:p>
            <a:r>
              <a:rPr lang="en-GB" sz="1200" b="1" dirty="0">
                <a:solidFill>
                  <a:srgbClr val="C00000"/>
                </a:solidFill>
              </a:rPr>
              <a:t>Average Cost </a:t>
            </a:r>
            <a:r>
              <a:rPr lang="en-GB" sz="1200" dirty="0">
                <a:solidFill>
                  <a:srgbClr val="C00000"/>
                </a:solidFill>
              </a:rPr>
              <a:t>:$</a:t>
            </a:r>
            <a:r>
              <a:rPr lang="en-GB" sz="1200" dirty="0" smtClean="0">
                <a:solidFill>
                  <a:srgbClr val="C00000"/>
                </a:solidFill>
              </a:rPr>
              <a:t>0.0619</a:t>
            </a:r>
            <a:endParaRPr lang="en-GB" sz="1200" dirty="0">
              <a:solidFill>
                <a:srgbClr val="C00000"/>
              </a:solidFill>
            </a:endParaRPr>
          </a:p>
          <a:p>
            <a:endParaRPr lang="en-GB" sz="1200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999" y="539258"/>
            <a:ext cx="4618862" cy="2655391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000" y="3223959"/>
            <a:ext cx="4618862" cy="1919541"/>
          </a:xfrm>
          <a:prstGeom prst="rect">
            <a:avLst/>
          </a:prstGeom>
        </p:spPr>
      </p:pic>
      <p:sp>
        <p:nvSpPr>
          <p:cNvPr id="49" name="Text 1"/>
          <p:cNvSpPr/>
          <p:nvPr/>
        </p:nvSpPr>
        <p:spPr>
          <a:xfrm>
            <a:off x="317696" y="11312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kern="0" spc="300" dirty="0" smtClean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</a:t>
            </a:r>
            <a:r>
              <a:rPr lang="en-US" sz="1000" b="1" kern="0" spc="3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GB" sz="1000" b="1" dirty="0">
                <a:solidFill>
                  <a:schemeClr val="bg1">
                    <a:lumMod val="50000"/>
                  </a:schemeClr>
                </a:solidFill>
                <a:latin typeface="Raleway Bold"/>
                <a:ea typeface="Raleway Bold"/>
                <a:cs typeface="Raleway Bold"/>
              </a:rPr>
              <a:t>Result 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1"/>
          <p:cNvSpPr/>
          <p:nvPr/>
        </p:nvSpPr>
        <p:spPr>
          <a:xfrm>
            <a:off x="317696" y="1570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 smtClean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</a:t>
            </a:r>
            <a:r>
              <a:rPr lang="en-US" sz="1000" b="1" kern="0" spc="3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b="1" kern="0" spc="300" dirty="0" smtClean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3573" y="709246"/>
            <a:ext cx="855784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GB" sz="1200" b="1" spc="21" dirty="0">
                <a:solidFill>
                  <a:srgbClr val="C00000"/>
                </a:solidFill>
                <a:ea typeface="Raleway"/>
                <a:cs typeface="Raleway"/>
              </a:rPr>
              <a:t>Which screen would you suggest we proceed with ? </a:t>
            </a:r>
          </a:p>
          <a:p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Screen 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C</a:t>
            </a:r>
          </a:p>
          <a:p>
            <a:endParaRPr lang="en-GB" sz="1200" b="1" spc="21" dirty="0">
              <a:solidFill>
                <a:srgbClr val="C00000"/>
              </a:solidFill>
              <a:ea typeface="Raleway"/>
              <a:cs typeface="Raleway"/>
            </a:endParaRPr>
          </a:p>
          <a:p>
            <a:r>
              <a:rPr lang="en-GB" sz="1200" b="1" spc="21" dirty="0">
                <a:solidFill>
                  <a:srgbClr val="C00000"/>
                </a:solidFill>
                <a:ea typeface="Raleway"/>
                <a:cs typeface="Raleway"/>
              </a:rPr>
              <a:t>2) Which success metrics you considered and why ?</a:t>
            </a:r>
          </a:p>
          <a:p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Conversion Rate : 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Tells </a:t>
            </a:r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us did the feature improve user 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success and user’s preference.</a:t>
            </a:r>
          </a:p>
          <a:p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Average OTP </a:t>
            </a:r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cost : 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Tells </a:t>
            </a:r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us is the improvement 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cost-effective.</a:t>
            </a:r>
          </a:p>
          <a:p>
            <a:endParaRPr lang="en-GB" sz="1200" b="1" spc="21" dirty="0" smtClean="0">
              <a:solidFill>
                <a:srgbClr val="C00000"/>
              </a:solidFill>
              <a:ea typeface="Raleway"/>
              <a:cs typeface="Raleway"/>
            </a:endParaRPr>
          </a:p>
          <a:p>
            <a:r>
              <a:rPr lang="en-GB" sz="1200" b="1" spc="21" dirty="0" smtClean="0">
                <a:solidFill>
                  <a:srgbClr val="C00000"/>
                </a:solidFill>
                <a:ea typeface="Raleway"/>
                <a:cs typeface="Raleway"/>
              </a:rPr>
              <a:t>3</a:t>
            </a:r>
            <a:r>
              <a:rPr lang="en-GB" sz="1200" b="1" spc="21" dirty="0">
                <a:solidFill>
                  <a:srgbClr val="C00000"/>
                </a:solidFill>
                <a:ea typeface="Raleway"/>
                <a:cs typeface="Raleway"/>
              </a:rPr>
              <a:t>) Whether you would incorporate additional data if you could.</a:t>
            </a:r>
          </a:p>
          <a:p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Yes, I would. I would incorporate time series data to analyse how the experiment performs over time and support a more robust conclusion. I would also include device type analysis to identify any friction points associated with different devices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.</a:t>
            </a:r>
          </a:p>
          <a:p>
            <a:endParaRPr lang="en-GB" sz="1200" b="1" spc="21" dirty="0" smtClean="0">
              <a:solidFill>
                <a:srgbClr val="C00000"/>
              </a:solidFill>
              <a:ea typeface="Raleway"/>
              <a:cs typeface="Raleway"/>
            </a:endParaRPr>
          </a:p>
          <a:p>
            <a:r>
              <a:rPr lang="en-GB" sz="1200" b="1" spc="21" dirty="0" smtClean="0">
                <a:solidFill>
                  <a:srgbClr val="C00000"/>
                </a:solidFill>
                <a:ea typeface="Raleway"/>
                <a:cs typeface="Raleway"/>
              </a:rPr>
              <a:t>4</a:t>
            </a:r>
            <a:r>
              <a:rPr lang="en-GB" sz="1200" b="1" spc="21" dirty="0">
                <a:solidFill>
                  <a:srgbClr val="C00000"/>
                </a:solidFill>
                <a:ea typeface="Raleway"/>
                <a:cs typeface="Raleway"/>
              </a:rPr>
              <a:t>) Why do you think your chosen screen performed best ?</a:t>
            </a:r>
          </a:p>
          <a:p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Group C delivers the same conversion performance as Group B (~92.8%) but at a lower average cost per user (~12% cheaper). Given no meaningful difference in conversion, Group C is the most cost-efficient option and should be 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selected.</a:t>
            </a:r>
          </a:p>
          <a:p>
            <a:endParaRPr lang="en-GB" sz="1200" b="1" spc="21" dirty="0" smtClean="0">
              <a:solidFill>
                <a:srgbClr val="C00000"/>
              </a:solidFill>
              <a:ea typeface="Raleway"/>
              <a:cs typeface="Raleway"/>
            </a:endParaRPr>
          </a:p>
          <a:p>
            <a:r>
              <a:rPr lang="en-GB" sz="1200" b="1" spc="21" dirty="0" smtClean="0">
                <a:solidFill>
                  <a:srgbClr val="C00000"/>
                </a:solidFill>
                <a:ea typeface="Raleway"/>
                <a:cs typeface="Raleway"/>
              </a:rPr>
              <a:t>5</a:t>
            </a:r>
            <a:r>
              <a:rPr lang="en-GB" sz="1200" b="1" spc="21" dirty="0">
                <a:solidFill>
                  <a:srgbClr val="C00000"/>
                </a:solidFill>
                <a:ea typeface="Raleway"/>
                <a:cs typeface="Raleway"/>
              </a:rPr>
              <a:t>) Would you recommend any additional changes to the screen ?</a:t>
            </a:r>
          </a:p>
          <a:p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Yes, I would recommend a few targeted improvements, while being careful not to compromise the goal of identifying true user preference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.</a:t>
            </a:r>
          </a:p>
          <a:p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Keep </a:t>
            </a:r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variants clean: Ensure only the primary option (SMS </a:t>
            </a:r>
            <a:r>
              <a:rPr lang="en-GB" sz="1200" spc="21" dirty="0" err="1">
                <a:solidFill>
                  <a:srgbClr val="C00000"/>
                </a:solidFill>
                <a:ea typeface="Raleway"/>
                <a:cs typeface="Raleway"/>
              </a:rPr>
              <a:t>vs</a:t>
            </a:r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 </a:t>
            </a:r>
            <a:r>
              <a:rPr lang="en-GB" sz="1200" spc="21" dirty="0" err="1">
                <a:solidFill>
                  <a:srgbClr val="C00000"/>
                </a:solidFill>
                <a:ea typeface="Raleway"/>
                <a:cs typeface="Raleway"/>
              </a:rPr>
              <a:t>WhatsApp</a:t>
            </a:r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) differs to avoid biased 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results.</a:t>
            </a:r>
          </a:p>
          <a:p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Clarify </a:t>
            </a:r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hierarchy: Make primary </a:t>
            </a:r>
            <a:r>
              <a:rPr lang="en-GB" sz="1200" spc="21" dirty="0" err="1">
                <a:solidFill>
                  <a:srgbClr val="C00000"/>
                </a:solidFill>
                <a:ea typeface="Raleway"/>
                <a:cs typeface="Raleway"/>
              </a:rPr>
              <a:t>vs</a:t>
            </a:r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 secondary options visually clear and </a:t>
            </a:r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consistent.</a:t>
            </a:r>
          </a:p>
          <a:p>
            <a:r>
              <a:rPr lang="en-GB" sz="1200" spc="21" dirty="0" smtClean="0">
                <a:solidFill>
                  <a:srgbClr val="C00000"/>
                </a:solidFill>
                <a:ea typeface="Raleway"/>
                <a:cs typeface="Raleway"/>
              </a:rPr>
              <a:t>Add </a:t>
            </a:r>
            <a:r>
              <a:rPr lang="en-GB" sz="1200" spc="21" dirty="0">
                <a:solidFill>
                  <a:srgbClr val="C00000"/>
                </a:solidFill>
                <a:ea typeface="Raleway"/>
                <a:cs typeface="Raleway"/>
              </a:rPr>
              <a:t>light guidance: Indicate benefits (e.g. speed/reliability) to support informed choice</a:t>
            </a:r>
          </a:p>
          <a:p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6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1A"/>
          </a:solidFill>
          <a:ln/>
        </p:spPr>
      </p:sp>
    </p:spTree>
    <p:extLst>
      <p:ext uri="{BB962C8B-B14F-4D97-AF65-F5344CB8AC3E}">
        <p14:creationId xmlns:p14="http://schemas.microsoft.com/office/powerpoint/2010/main" val="95310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-29307"/>
            <a:ext cx="914400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8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791515">
              <a:alpha val="60000"/>
            </a:srgbClr>
          </a:solidFill>
          <a:ln/>
        </p:spPr>
      </p:sp>
      <p:sp>
        <p:nvSpPr>
          <p:cNvPr id="29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5C1010">
              <a:alpha val="70000"/>
            </a:srgbClr>
          </a:solidFill>
          <a:ln/>
        </p:spPr>
      </p:sp>
      <p:sp>
        <p:nvSpPr>
          <p:cNvPr id="30" name="Shape 3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AF6F1">
              <a:alpha val="25000"/>
            </a:srgbClr>
          </a:solidFill>
          <a:ln/>
        </p:spPr>
      </p:sp>
      <p:sp>
        <p:nvSpPr>
          <p:cNvPr id="31" name="Text 4"/>
          <p:cNvSpPr/>
          <p:nvPr/>
        </p:nvSpPr>
        <p:spPr>
          <a:xfrm>
            <a:off x="640080" y="1188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 err="1" smtClean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Muzz</a:t>
            </a:r>
            <a:endParaRPr lang="en-US" sz="1000" dirty="0"/>
          </a:p>
        </p:txBody>
      </p:sp>
      <p:sp>
        <p:nvSpPr>
          <p:cNvPr id="32" name="Text 5"/>
          <p:cNvSpPr/>
          <p:nvPr/>
        </p:nvSpPr>
        <p:spPr>
          <a:xfrm>
            <a:off x="640080" y="15087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6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3" name="Text 7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smtClean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  </a:t>
            </a:r>
            <a:r>
              <a:rPr lang="en-US" sz="10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Prepared for: Interview  · </a:t>
            </a:r>
            <a:r>
              <a:rPr lang="en-US" sz="1000" dirty="0" smtClean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000" dirty="0" err="1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000" dirty="0" err="1" smtClean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442</Words>
  <Application>Microsoft Office PowerPoint</Application>
  <PresentationFormat>On-screen Show (16:9)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Georgia</vt:lpstr>
      <vt:lpstr>Raleway</vt:lpstr>
      <vt:lpstr>Raleway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Cardwell Gift Shop — CX Analysis</dc:title>
  <dc:subject>PptxGenJS Presentation</dc:subject>
  <dc:creator>PptxGenJS</dc:creator>
  <cp:lastModifiedBy>Microsoft account</cp:lastModifiedBy>
  <cp:revision>33</cp:revision>
  <dcterms:created xsi:type="dcterms:W3CDTF">2026-03-11T16:17:29Z</dcterms:created>
  <dcterms:modified xsi:type="dcterms:W3CDTF">2026-03-27T10:13:28Z</dcterms:modified>
</cp:coreProperties>
</file>